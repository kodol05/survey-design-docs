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171717"/>
                </a:solidFill>
                <a:latin typeface="맑은 고딕"/>
              </a:rPr>
              <a:t>7차원 성향 설문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737373"/>
                </a:solidFill>
                <a:latin typeface="맑은 고딕"/>
              </a:rPr>
              <a:t>사내 성향 이해 설문 · 기획 검토안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46120"/>
            <a:ext cx="1463040" cy="38100"/>
          </a:xfrm>
          <a:prstGeom prst="rect">
            <a:avLst/>
          </a:prstGeom>
          <a:solidFill>
            <a:srgbClr val="1717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737373"/>
                </a:solidFill>
                <a:latin typeface="맑은 고딕"/>
              </a:rPr>
              <a:t>2026-08-20 · 작성 중 (샘플)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71717"/>
                </a:solidFill>
                <a:latin typeface="맑은 고딕"/>
              </a:rPr>
              <a:t>무엇을 재는가 — 7개 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37373"/>
                </a:solidFill>
                <a:latin typeface="맑은 고딕"/>
              </a:rPr>
              <a:t>클로닝거의 기질·성격 이론을 참고해 사내에서 자체 구성한 7개 축입니다.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828800"/>
            <a:ext cx="1920240" cy="548640"/>
          </a:xfrm>
          <a:prstGeom prst="roundRect">
            <a:avLst/>
          </a:prstGeom>
          <a:solidFill>
            <a:srgbClr val="171717"/>
          </a:solidFill>
          <a:ln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7차원 성향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E40AF"/>
                </a:solidFill>
                <a:latin typeface="맑은 고딕"/>
              </a:rPr>
              <a:t>기질 — 타고난 성향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2697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92400E"/>
                </a:solidFill>
                <a:latin typeface="맑은 고딕"/>
              </a:rPr>
              <a:t>성격 — 경험으로 형성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00400"/>
            <a:ext cx="210312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자극추구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32461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새로움에 끌리는 정도</a:t>
            </a:r>
          </a:p>
        </p:txBody>
      </p:sp>
      <p:cxnSp>
        <p:nvCxnSpPr>
          <p:cNvPr id="9" name="Connector 8"/>
          <p:cNvCxnSpPr>
            <a:stCxn id="4" idx="3"/>
            <a:endCxn id="7" idx="1"/>
          </p:cNvCxnSpPr>
          <p:nvPr/>
        </p:nvCxnSpPr>
        <p:spPr>
          <a:xfrm flipH="1">
            <a:off x="822960" y="2103120"/>
            <a:ext cx="6217920" cy="1348740"/>
          </a:xfrm>
          <a:prstGeom prst="line">
            <a:avLst/>
          </a:prstGeom>
          <a:ln w="190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3977639"/>
            <a:ext cx="210312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위험회피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023359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걱정하고 조심하는 정도</a:t>
            </a:r>
          </a:p>
        </p:txBody>
      </p:sp>
      <p:cxnSp>
        <p:nvCxnSpPr>
          <p:cNvPr id="12" name="Connector 11"/>
          <p:cNvCxnSpPr>
            <a:stCxn id="4" idx="3"/>
            <a:endCxn id="10" idx="1"/>
          </p:cNvCxnSpPr>
          <p:nvPr/>
        </p:nvCxnSpPr>
        <p:spPr>
          <a:xfrm flipH="1">
            <a:off x="822960" y="2103120"/>
            <a:ext cx="6217920" cy="2125979"/>
          </a:xfrm>
          <a:prstGeom prst="line">
            <a:avLst/>
          </a:prstGeom>
          <a:ln w="190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4754880"/>
            <a:ext cx="210312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사회적 민감성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80060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타인 반응에 반응하는 정도</a:t>
            </a:r>
          </a:p>
        </p:txBody>
      </p:sp>
      <p:cxnSp>
        <p:nvCxnSpPr>
          <p:cNvPr id="15" name="Connector 14"/>
          <p:cNvCxnSpPr>
            <a:stCxn id="4" idx="3"/>
            <a:endCxn id="13" idx="1"/>
          </p:cNvCxnSpPr>
          <p:nvPr/>
        </p:nvCxnSpPr>
        <p:spPr>
          <a:xfrm flipH="1">
            <a:off x="822960" y="2103120"/>
            <a:ext cx="6217920" cy="2903220"/>
          </a:xfrm>
          <a:prstGeom prst="line">
            <a:avLst/>
          </a:prstGeom>
          <a:ln w="190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" y="5532120"/>
            <a:ext cx="2103120" cy="502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인내력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57784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보상 없이도 지속하는 힘</a:t>
            </a:r>
          </a:p>
        </p:txBody>
      </p:sp>
      <p:cxnSp>
        <p:nvCxnSpPr>
          <p:cNvPr id="18" name="Connector 17"/>
          <p:cNvCxnSpPr>
            <a:stCxn id="4" idx="3"/>
            <a:endCxn id="16" idx="1"/>
          </p:cNvCxnSpPr>
          <p:nvPr/>
        </p:nvCxnSpPr>
        <p:spPr>
          <a:xfrm flipH="1">
            <a:off x="822960" y="2103120"/>
            <a:ext cx="6217920" cy="3680460"/>
          </a:xfrm>
          <a:prstGeom prst="line">
            <a:avLst/>
          </a:prstGeom>
          <a:ln w="190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3760" y="3383280"/>
            <a:ext cx="2103120" cy="502920"/>
          </a:xfrm>
          <a:prstGeom prst="roundRect">
            <a:avLst/>
          </a:prstGeom>
          <a:solidFill>
            <a:srgbClr val="92400E"/>
          </a:solidFill>
          <a:ln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자율성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4290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스스로 정하고 책임지는 정도</a:t>
            </a:r>
          </a:p>
        </p:txBody>
      </p:sp>
      <p:cxnSp>
        <p:nvCxnSpPr>
          <p:cNvPr id="21" name="Connector 20"/>
          <p:cNvCxnSpPr>
            <a:stCxn id="4" idx="3"/>
            <a:endCxn id="19" idx="1"/>
          </p:cNvCxnSpPr>
          <p:nvPr/>
        </p:nvCxnSpPr>
        <p:spPr>
          <a:xfrm>
            <a:off x="7040880" y="2103120"/>
            <a:ext cx="182880" cy="1531620"/>
          </a:xfrm>
          <a:prstGeom prst="line">
            <a:avLst/>
          </a:prstGeom>
          <a:ln w="190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23760" y="4160520"/>
            <a:ext cx="2103120" cy="502920"/>
          </a:xfrm>
          <a:prstGeom prst="roundRect">
            <a:avLst/>
          </a:prstGeom>
          <a:solidFill>
            <a:srgbClr val="92400E"/>
          </a:solidFill>
          <a:ln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연대감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42062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타인을 수용하고 협력하는 정도</a:t>
            </a:r>
          </a:p>
        </p:txBody>
      </p:sp>
      <p:cxnSp>
        <p:nvCxnSpPr>
          <p:cNvPr id="24" name="Connector 23"/>
          <p:cNvCxnSpPr>
            <a:stCxn id="4" idx="3"/>
            <a:endCxn id="22" idx="1"/>
          </p:cNvCxnSpPr>
          <p:nvPr/>
        </p:nvCxnSpPr>
        <p:spPr>
          <a:xfrm>
            <a:off x="7040880" y="2103120"/>
            <a:ext cx="182880" cy="2308860"/>
          </a:xfrm>
          <a:prstGeom prst="line">
            <a:avLst/>
          </a:prstGeom>
          <a:ln w="190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23760" y="4937760"/>
            <a:ext cx="2103120" cy="502920"/>
          </a:xfrm>
          <a:prstGeom prst="roundRect">
            <a:avLst/>
          </a:prstGeom>
          <a:solidFill>
            <a:srgbClr val="92400E"/>
          </a:solidFill>
          <a:ln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자기초월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9834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자기를 넘어선 연결감</a:t>
            </a:r>
          </a:p>
        </p:txBody>
      </p:sp>
      <p:cxnSp>
        <p:nvCxnSpPr>
          <p:cNvPr id="27" name="Connector 26"/>
          <p:cNvCxnSpPr>
            <a:stCxn id="4" idx="3"/>
            <a:endCxn id="25" idx="1"/>
          </p:cNvCxnSpPr>
          <p:nvPr/>
        </p:nvCxnSpPr>
        <p:spPr>
          <a:xfrm>
            <a:off x="7040880" y="2103120"/>
            <a:ext cx="182880" cy="3086100"/>
          </a:xfrm>
          <a:prstGeom prst="line">
            <a:avLst/>
          </a:prstGeom>
          <a:ln w="190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각 축은 15문항 내외로 측정 · 총 105문항 · 응시 약 15분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71717"/>
                </a:solidFill>
                <a:latin typeface="맑은 고딕"/>
              </a:rPr>
              <a:t>누가 무엇을 볼 수 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737373"/>
                </a:solidFill>
                <a:latin typeface="맑은 고딕"/>
              </a:rPr>
              <a:t>권한 검증은 화면 숨김이 아니라 서버에서 처리합니다.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743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기능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일반 사원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anchor="ctr">
                    <a:solidFill>
                      <a:srgbClr val="1717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설문 응시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본인 결과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타인 결과 조회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가능 (조회 기록 남음)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전체 통계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데이터 내보내기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문항·계정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71717"/>
                          </a:solidFill>
                          <a:latin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486400"/>
            <a:ext cx="10515600" cy="685800"/>
          </a:xfrm>
          <a:prstGeom prst="roundRect">
            <a:avLst/>
          </a:prstGeom>
          <a:solidFill>
            <a:srgbClr val="FEF3C7"/>
          </a:solidFill>
          <a:ln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>
                <a:solidFill>
                  <a:srgbClr val="92400E"/>
                </a:solidFill>
                <a:latin typeface="맑은 고딕"/>
              </a:rPr>
              <a:t>  관리자가 개인 결과를 조회하면 누가·언제·누구의 결과를 봤는지 기록이 남습니다. 이 기록은 삭제할 수 없습니다.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737373"/>
                </a:solidFill>
                <a:latin typeface="맑은 고딕"/>
              </a:rPr>
              <a:t>샘플 — 실제 승인 자료는 설계 확정 후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